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3333333" cy="7500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USE CASE EXECUTIVO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Easy BPM + Agentic Orchestration</a:t>
            </a:r>
            <a:endParaRPr lang="pt-BR"/>
          </a:p>
        </p:txBody>
      </p:sp>
      <p:sp>
        <p:nvSpPr>
          <p:cNvPr id="10" name="Mensagem"/>
          <p:cNvSpPr/>
          <p:nvPr/>
        </p:nvSpPr>
        <p:spPr>
          <a:xfrm>
            <a:off x="750000" y="1650000"/>
            <a:ext cx="11800000" cy="22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3400" b="1">
                <a:solidFill>
                  <a:srgbClr val="FFFFFF"/>
                </a:solidFill>
                <a:latin typeface="Aptos"/>
              </a:rPr>
              <a:t>AUTONOMIA PARA INVESTIGAR.</a:t>
            </a:r>
            <a:endParaRPr lang="pt-BR"/>
          </a:p>
          <a:p>
            <a:pPr marL="0" indent="0">
              <a:buNone/>
            </a:pPr>
            <a:r>
              <a:rPr lang="pt-BR" sz="3400" b="1">
                <a:solidFill>
                  <a:srgbClr val="FFFFFF"/>
                </a:solidFill>
                <a:latin typeface="Aptos"/>
              </a:rPr>
              <a:t>GOVERNANÇA PARA DECIDIR.</a:t>
            </a:r>
            <a:endParaRPr lang="pt-BR"/>
          </a:p>
        </p:txBody>
      </p:sp>
      <p:sp>
        <p:nvSpPr>
          <p:cNvPr id="11" name="Subtítulo"/>
          <p:cNvSpPr/>
          <p:nvPr/>
        </p:nvSpPr>
        <p:spPr>
          <a:xfrm>
            <a:off x="2050000" y="4300000"/>
            <a:ext cx="9200000" cy="90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2200" b="1">
                <a:solidFill>
                  <a:srgbClr val="FFFFFF"/>
                </a:solidFill>
                <a:latin typeface="Aptos"/>
              </a:rPr>
              <a:t>Triagem inteligente de sinistros com controle humano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01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CONTEXTO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O desafio da triagem</a:t>
            </a:r>
            <a:endParaRPr lang="pt-BR"/>
          </a:p>
        </p:txBody>
      </p:sp>
      <p:sp>
        <p:nvSpPr>
          <p:cNvPr id="10" name="Número 01"/>
          <p:cNvSpPr/>
          <p:nvPr/>
        </p:nvSpPr>
        <p:spPr>
          <a:xfrm>
            <a:off x="650000" y="1700000"/>
            <a:ext cx="650000" cy="65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2000" b="1">
                <a:solidFill>
                  <a:srgbClr val="FFFFFF"/>
                </a:solidFill>
                <a:latin typeface="Aptos"/>
              </a:rPr>
              <a:t>01</a:t>
            </a:r>
            <a:endParaRPr lang="pt-BR"/>
          </a:p>
        </p:txBody>
      </p:sp>
      <p:sp>
        <p:nvSpPr>
          <p:cNvPr id="11" name="Muitas fontes"/>
          <p:cNvSpPr/>
          <p:nvPr/>
        </p:nvSpPr>
        <p:spPr>
          <a:xfrm>
            <a:off x="650000" y="2500000"/>
            <a:ext cx="3700000" cy="21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900" b="0">
                <a:solidFill>
                  <a:srgbClr val="FFFFFF"/>
                </a:solidFill>
                <a:latin typeface="Aptos"/>
              </a:rPr>
              <a:t>Muitas fontes</a:t>
            </a:r>
            <a:endParaRPr lang="pt-BR"/>
          </a:p>
          <a:p>
            <a:pPr marL="0" indent="0">
              <a:buNone/>
            </a:pPr>
            <a:r>
              <a:rPr lang="pt-BR" sz="1900" b="0">
                <a:solidFill>
                  <a:srgbClr val="FFFFFF"/>
                </a:solidFill>
                <a:latin typeface="Aptos"/>
              </a:rPr>
              <a:t>Apólice, histórico, documentos e valores.</a:t>
            </a:r>
            <a:endParaRPr lang="pt-BR"/>
          </a:p>
        </p:txBody>
      </p:sp>
      <p:sp>
        <p:nvSpPr>
          <p:cNvPr id="12" name="Número 02"/>
          <p:cNvSpPr/>
          <p:nvPr/>
        </p:nvSpPr>
        <p:spPr>
          <a:xfrm>
            <a:off x="4850000" y="1700000"/>
            <a:ext cx="650000" cy="65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2000" b="1">
                <a:solidFill>
                  <a:srgbClr val="FFFFFF"/>
                </a:solidFill>
                <a:latin typeface="Aptos"/>
              </a:rPr>
              <a:t>02</a:t>
            </a:r>
            <a:endParaRPr lang="pt-BR"/>
          </a:p>
        </p:txBody>
      </p:sp>
      <p:sp>
        <p:nvSpPr>
          <p:cNvPr id="13" name="Casos variáveis"/>
          <p:cNvSpPr/>
          <p:nvPr/>
        </p:nvSpPr>
        <p:spPr>
          <a:xfrm>
            <a:off x="4850000" y="2500000"/>
            <a:ext cx="3700000" cy="21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900" b="0">
                <a:solidFill>
                  <a:srgbClr val="FFFFFF"/>
                </a:solidFill>
                <a:latin typeface="Aptos"/>
              </a:rPr>
              <a:t>Casos variáveis</a:t>
            </a:r>
            <a:endParaRPr lang="pt-BR"/>
          </a:p>
          <a:p>
            <a:pPr marL="0" indent="0">
              <a:buNone/>
            </a:pPr>
            <a:r>
              <a:rPr lang="pt-BR" sz="1900" b="0">
                <a:solidFill>
                  <a:srgbClr val="FFFFFF"/>
                </a:solidFill>
                <a:latin typeface="Aptos"/>
              </a:rPr>
              <a:t>Novas evidências mudam a investigação.</a:t>
            </a:r>
            <a:endParaRPr lang="pt-BR"/>
          </a:p>
        </p:txBody>
      </p:sp>
      <p:sp>
        <p:nvSpPr>
          <p:cNvPr id="14" name="Número 03"/>
          <p:cNvSpPr/>
          <p:nvPr/>
        </p:nvSpPr>
        <p:spPr>
          <a:xfrm>
            <a:off x="9050000" y="1700000"/>
            <a:ext cx="650000" cy="65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2000" b="1">
                <a:solidFill>
                  <a:srgbClr val="FFFFFF"/>
                </a:solidFill>
                <a:latin typeface="Aptos"/>
              </a:rPr>
              <a:t>03</a:t>
            </a:r>
            <a:endParaRPr lang="pt-BR"/>
          </a:p>
        </p:txBody>
      </p:sp>
      <p:sp>
        <p:nvSpPr>
          <p:cNvPr id="15" name="Risco decisório"/>
          <p:cNvSpPr/>
          <p:nvPr/>
        </p:nvSpPr>
        <p:spPr>
          <a:xfrm>
            <a:off x="9050000" y="2500000"/>
            <a:ext cx="3700000" cy="21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900" b="0">
                <a:solidFill>
                  <a:srgbClr val="FFFFFF"/>
                </a:solidFill>
                <a:latin typeface="Aptos"/>
              </a:rPr>
              <a:t>Risco decisório</a:t>
            </a:r>
            <a:endParaRPr lang="pt-BR"/>
          </a:p>
          <a:p>
            <a:pPr marL="0" indent="0">
              <a:buNone/>
            </a:pPr>
            <a:r>
              <a:rPr lang="pt-BR" sz="1900" b="0">
                <a:solidFill>
                  <a:srgbClr val="FFFFFF"/>
                </a:solidFill>
                <a:latin typeface="Aptos"/>
              </a:rPr>
              <a:t>Pagamento exige explicação e autoridade humana.</a:t>
            </a:r>
            <a:endParaRPr lang="pt-BR"/>
          </a:p>
        </p:txBody>
      </p:sp>
      <p:sp>
        <p:nvSpPr>
          <p:cNvPr id="20" name="Oportunidade"/>
          <p:cNvSpPr/>
          <p:nvPr/>
        </p:nvSpPr>
        <p:spPr>
          <a:xfrm>
            <a:off x="650000" y="5100000"/>
            <a:ext cx="12000000" cy="850000"/>
          </a:xfrm>
          <a:prstGeom prst="roundRect">
            <a:avLst/>
          </a:prstGeom>
          <a:solidFill>
            <a:srgbClr val="102B45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OPORTUNIDADE  •  agentes reduzem o tempo de investigação; o BPM preserva o controle.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02</a:t>
            </a:r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ARQUITETURA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Um processo, duas naturezas</a:t>
            </a:r>
            <a:endParaRPr lang="pt-BR"/>
          </a:p>
        </p:txBody>
      </p:sp>
      <p:sp>
        <p:nvSpPr>
          <p:cNvPr id="10" name="Sinistro recebido"/>
          <p:cNvSpPr/>
          <p:nvPr/>
        </p:nvSpPr>
        <p:spPr>
          <a:xfrm>
            <a:off x="500000" y="2250000"/>
            <a:ext cx="1900000" cy="105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Sinistro</a:t>
            </a:r>
            <a:endParaRPr lang="pt-BR"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recebido</a:t>
            </a:r>
            <a:endParaRPr lang="pt-BR"/>
          </a:p>
        </p:txBody>
      </p:sp>
      <p:cxnSp>
        <p:nvCxnSpPr>
          <p:cNvPr id="30" name="Conector 30"/>
          <p:cNvCxnSpPr/>
          <p:nvPr/>
        </p:nvCxnSpPr>
        <p:spPr>
          <a:xfrm>
            <a:off x="2400000" y="2770000"/>
            <a:ext cx="550000" cy="0"/>
          </a:xfrm>
          <a:prstGeom prst="line">
            <a:avLst/>
          </a:prstGeom>
          <a:ln w="26000">
            <a:solidFill>
              <a:srgbClr val="06B6D4"/>
            </a:solidFill>
            <a:tailEnd type="none"/>
            <a:headEnd type="triangle"/>
          </a:ln>
        </p:spPr>
      </p:cxnSp>
      <p:sp>
        <p:nvSpPr>
          <p:cNvPr id="11" name="Conferir entrada"/>
          <p:cNvSpPr/>
          <p:nvPr/>
        </p:nvSpPr>
        <p:spPr>
          <a:xfrm>
            <a:off x="3000000" y="2250000"/>
            <a:ext cx="1900000" cy="10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172033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Conferir</a:t>
            </a:r>
            <a:endParaRPr lang="pt-BR"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entrada</a:t>
            </a:r>
            <a:endParaRPr lang="pt-BR"/>
          </a:p>
        </p:txBody>
      </p:sp>
      <p:cxnSp>
        <p:nvCxnSpPr>
          <p:cNvPr id="31" name="Conector 31"/>
          <p:cNvCxnSpPr/>
          <p:nvPr/>
        </p:nvCxnSpPr>
        <p:spPr>
          <a:xfrm>
            <a:off x="4900000" y="2770000"/>
            <a:ext cx="550000" cy="0"/>
          </a:xfrm>
          <a:prstGeom prst="line">
            <a:avLst/>
          </a:prstGeom>
          <a:ln w="26000">
            <a:solidFill>
              <a:srgbClr val="06B6D4"/>
            </a:solidFill>
            <a:tailEnd type="none"/>
            <a:headEnd type="triangle"/>
          </a:ln>
        </p:spPr>
      </p:cxnSp>
      <p:sp>
        <p:nvSpPr>
          <p:cNvPr id="12" name="Agent Process triagem"/>
          <p:cNvSpPr/>
          <p:nvPr/>
        </p:nvSpPr>
        <p:spPr>
          <a:xfrm>
            <a:off x="5500000" y="2250000"/>
            <a:ext cx="1900000" cy="1050000"/>
          </a:xfrm>
          <a:prstGeom prst="roundRect">
            <a:avLst/>
          </a:prstGeom>
          <a:solidFill>
            <a:srgbClr val="0E7490"/>
          </a:solidFill>
          <a:ln w="14000">
            <a:solidFill>
              <a:srgbClr val="0E7490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Agent Process</a:t>
            </a:r>
            <a:endParaRPr lang="pt-BR"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triagem</a:t>
            </a:r>
            <a:endParaRPr lang="pt-BR"/>
          </a:p>
        </p:txBody>
      </p:sp>
      <p:cxnSp>
        <p:nvCxnSpPr>
          <p:cNvPr id="32" name="Conector 32"/>
          <p:cNvCxnSpPr/>
          <p:nvPr/>
        </p:nvCxnSpPr>
        <p:spPr>
          <a:xfrm>
            <a:off x="7400000" y="2770000"/>
            <a:ext cx="550000" cy="0"/>
          </a:xfrm>
          <a:prstGeom prst="line">
            <a:avLst/>
          </a:prstGeom>
          <a:ln w="26000">
            <a:solidFill>
              <a:srgbClr val="06B6D4"/>
            </a:solidFill>
            <a:tailEnd type="none"/>
            <a:headEnd type="triangle"/>
          </a:ln>
        </p:spPr>
      </p:cxnSp>
      <p:sp>
        <p:nvSpPr>
          <p:cNvPr id="13" name="Revisão humana"/>
          <p:cNvSpPr/>
          <p:nvPr/>
        </p:nvSpPr>
        <p:spPr>
          <a:xfrm>
            <a:off x="8000000" y="2250000"/>
            <a:ext cx="1900000" cy="1050000"/>
          </a:xfrm>
          <a:prstGeom prst="roundRect">
            <a:avLst/>
          </a:prstGeom>
          <a:solidFill>
            <a:srgbClr val="6D28D9"/>
          </a:solidFill>
          <a:ln w="14000">
            <a:solidFill>
              <a:srgbClr val="6D28D9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Revisão</a:t>
            </a:r>
            <a:endParaRPr lang="pt-BR"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humana</a:t>
            </a:r>
            <a:endParaRPr lang="pt-BR"/>
          </a:p>
        </p:txBody>
      </p:sp>
      <p:cxnSp>
        <p:nvCxnSpPr>
          <p:cNvPr id="33" name="Conector 33"/>
          <p:cNvCxnSpPr/>
          <p:nvPr/>
        </p:nvCxnSpPr>
        <p:spPr>
          <a:xfrm>
            <a:off x="9900000" y="2770000"/>
            <a:ext cx="550000" cy="0"/>
          </a:xfrm>
          <a:prstGeom prst="line">
            <a:avLst/>
          </a:prstGeom>
          <a:ln w="26000">
            <a:solidFill>
              <a:srgbClr val="06B6D4"/>
            </a:solidFill>
            <a:tailEnd type="none"/>
            <a:headEnd type="triangle"/>
          </a:ln>
        </p:spPr>
      </p:cxnSp>
      <p:sp>
        <p:nvSpPr>
          <p:cNvPr id="14" name="Gateway de decisão"/>
          <p:cNvSpPr/>
          <p:nvPr/>
        </p:nvSpPr>
        <p:spPr>
          <a:xfrm>
            <a:off x="10500000" y="2250000"/>
            <a:ext cx="1900000" cy="1050000"/>
          </a:xfrm>
          <a:prstGeom prst="roundRect">
            <a:avLst/>
          </a:prstGeom>
          <a:solidFill>
            <a:srgbClr val="22C55E"/>
          </a:solidFill>
          <a:ln w="14000">
            <a:solidFill>
              <a:srgbClr val="22C55E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Gateway</a:t>
            </a:r>
            <a:endParaRPr lang="pt-BR"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de decisão</a:t>
            </a:r>
            <a:endParaRPr lang="pt-BR"/>
          </a:p>
        </p:txBody>
      </p:sp>
      <p:sp>
        <p:nvSpPr>
          <p:cNvPr id="40" name="APPROVED"/>
          <p:cNvSpPr/>
          <p:nvPr/>
        </p:nvSpPr>
        <p:spPr>
          <a:xfrm>
            <a:off x="2450000" y="4300000"/>
            <a:ext cx="2750000" cy="8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2C55E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Aptos"/>
              </a:rPr>
              <a:t>APPROVED</a:t>
            </a:r>
            <a:endParaRPr lang="pt-BR"/>
          </a:p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Aptos"/>
              </a:rPr>
              <a:t>Liquidação</a:t>
            </a:r>
            <a:endParaRPr lang="pt-BR"/>
          </a:p>
        </p:txBody>
      </p:sp>
      <p:sp>
        <p:nvSpPr>
          <p:cNvPr id="41" name="NEEDS_INFO"/>
          <p:cNvSpPr/>
          <p:nvPr/>
        </p:nvSpPr>
        <p:spPr>
          <a:xfrm>
            <a:off x="5550000" y="4300000"/>
            <a:ext cx="2750000" cy="8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F59E0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Aptos"/>
              </a:rPr>
              <a:t>NEEDS_INFO</a:t>
            </a:r>
            <a:endParaRPr lang="pt-BR"/>
          </a:p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Aptos"/>
              </a:rPr>
              <a:t>Complementação</a:t>
            </a:r>
            <a:endParaRPr lang="pt-BR"/>
          </a:p>
        </p:txBody>
      </p:sp>
      <p:sp>
        <p:nvSpPr>
          <p:cNvPr id="42" name="INVESTIGATE"/>
          <p:cNvSpPr/>
          <p:nvPr/>
        </p:nvSpPr>
        <p:spPr>
          <a:xfrm>
            <a:off x="8650000" y="4300000"/>
            <a:ext cx="2750000" cy="8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EF444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Aptos"/>
              </a:rPr>
              <a:t>INVESTIGATE</a:t>
            </a:r>
            <a:endParaRPr lang="pt-BR"/>
          </a:p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Aptos"/>
              </a:rPr>
              <a:t>Investigação</a:t>
            </a:r>
            <a:endParaRPr lang="pt-BR"/>
          </a:p>
        </p:txBody>
      </p:sp>
      <p:sp>
        <p:nvSpPr>
          <p:cNvPr id="50" name="Princípio"/>
          <p:cNvSpPr/>
          <p:nvPr/>
        </p:nvSpPr>
        <p:spPr>
          <a:xfrm>
            <a:off x="2600000" y="5600000"/>
            <a:ext cx="8100000" cy="600000"/>
          </a:xfrm>
          <a:prstGeom prst="roundRect">
            <a:avLst/>
          </a:prstGeom>
          <a:solidFill>
            <a:srgbClr val="0B1220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DCE7F7"/>
                </a:solidFill>
                <a:latin typeface="Aptos"/>
              </a:rPr>
              <a:t>Investigação probabilística  ≠  decisão operacional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03</a:t>
            </a:r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ORQUESTRAÇÃO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Equipe de agentes especializados</a:t>
            </a:r>
            <a:endParaRPr lang="pt-BR"/>
          </a:p>
        </p:txBody>
      </p:sp>
      <p:sp>
        <p:nvSpPr>
          <p:cNvPr id="10" name="PLANNER"/>
          <p:cNvSpPr/>
          <p:nvPr/>
        </p:nvSpPr>
        <p:spPr>
          <a:xfrm>
            <a:off x="550000" y="165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PLANNER</a:t>
            </a:r>
            <a:endParaRPr lang="pt-BR"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Planeja a investigação</a:t>
            </a:r>
            <a:endParaRPr lang="pt-BR"/>
          </a:p>
        </p:txBody>
      </p:sp>
      <p:sp>
        <p:nvSpPr>
          <p:cNvPr id="11" name="COVERAGE"/>
          <p:cNvSpPr/>
          <p:nvPr/>
        </p:nvSpPr>
        <p:spPr>
          <a:xfrm>
            <a:off x="4700000" y="165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COVERAGE</a:t>
            </a:r>
            <a:endParaRPr lang="pt-BR"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Valida cobertura</a:t>
            </a:r>
            <a:endParaRPr lang="pt-BR"/>
          </a:p>
        </p:txBody>
      </p:sp>
      <p:sp>
        <p:nvSpPr>
          <p:cNvPr id="12" name="EVIDENCE"/>
          <p:cNvSpPr/>
          <p:nvPr/>
        </p:nvSpPr>
        <p:spPr>
          <a:xfrm>
            <a:off x="8850000" y="165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EVIDENCE</a:t>
            </a:r>
            <a:endParaRPr lang="pt-BR"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Consolida evidências</a:t>
            </a:r>
            <a:endParaRPr lang="pt-BR"/>
          </a:p>
        </p:txBody>
      </p:sp>
      <p:sp>
        <p:nvSpPr>
          <p:cNvPr id="13" name="RISK"/>
          <p:cNvSpPr/>
          <p:nvPr/>
        </p:nvSpPr>
        <p:spPr>
          <a:xfrm>
            <a:off x="550000" y="350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RISK</a:t>
            </a:r>
            <a:endParaRPr lang="pt-BR"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Avalia risco e confiança</a:t>
            </a:r>
            <a:endParaRPr lang="pt-BR"/>
          </a:p>
        </p:txBody>
      </p:sp>
      <p:sp>
        <p:nvSpPr>
          <p:cNvPr id="14" name="SUPERVISOR"/>
          <p:cNvSpPr/>
          <p:nvPr/>
        </p:nvSpPr>
        <p:spPr>
          <a:xfrm>
            <a:off x="4700000" y="350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SUPERVISOR</a:t>
            </a:r>
            <a:endParaRPr lang="pt-BR"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Critica e recomenda</a:t>
            </a:r>
            <a:endParaRPr lang="pt-BR"/>
          </a:p>
        </p:txBody>
      </p:sp>
      <p:sp>
        <p:nvSpPr>
          <p:cNvPr id="30" name="Board"/>
          <p:cNvSpPr/>
          <p:nvPr/>
        </p:nvSpPr>
        <p:spPr>
          <a:xfrm>
            <a:off x="8900000" y="3500000"/>
            <a:ext cx="3700000" cy="1400000"/>
          </a:xfrm>
          <a:prstGeom prst="roundRect">
            <a:avLst/>
          </a:prstGeom>
          <a:solidFill>
            <a:srgbClr val="102B45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AGENT BOARD</a:t>
            </a:r>
            <a:endParaRPr lang="pt-BR"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Dependências, responsáveis e estados explícitos</a:t>
            </a:r>
            <a:endParaRPr lang="pt-BR"/>
          </a:p>
        </p:txBody>
      </p:sp>
      <p:sp>
        <p:nvSpPr>
          <p:cNvPr id="31" name="Nota"/>
          <p:cNvSpPr/>
          <p:nvPr/>
        </p:nvSpPr>
        <p:spPr>
          <a:xfrm>
            <a:off x="550000" y="5500000"/>
            <a:ext cx="12050000" cy="550000"/>
          </a:xfrm>
          <a:prstGeom prst="round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0">
                <a:solidFill>
                  <a:srgbClr val="DCE7F7"/>
                </a:solidFill>
                <a:latin typeface="Aptos"/>
              </a:rPr>
              <a:t>Especialização reduz ambiguidade; supervisão reduz confiança indevida.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04</a:t>
            </a:r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RACIOCÍNIO E AÇÃO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O ciclo agentic</a:t>
            </a:r>
            <a:endParaRPr lang="pt-BR"/>
          </a:p>
        </p:txBody>
      </p:sp>
      <p:sp>
        <p:nvSpPr>
          <p:cNvPr id="10" name="GOAL"/>
          <p:cNvSpPr/>
          <p:nvPr/>
        </p:nvSpPr>
        <p:spPr>
          <a:xfrm>
            <a:off x="500000" y="1650000"/>
            <a:ext cx="3500000" cy="12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1  GOAL</a:t>
            </a:r>
            <a:endParaRPr lang="pt-BR"/>
          </a:p>
        </p:txBody>
      </p:sp>
      <p:sp>
        <p:nvSpPr>
          <p:cNvPr id="11" name="PLANEJAR"/>
          <p:cNvSpPr/>
          <p:nvPr/>
        </p:nvSpPr>
        <p:spPr>
          <a:xfrm>
            <a:off x="4600000" y="1650000"/>
            <a:ext cx="3500000" cy="12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2  PLANEJAR</a:t>
            </a:r>
            <a:endParaRPr lang="pt-BR"/>
          </a:p>
        </p:txBody>
      </p:sp>
      <p:sp>
        <p:nvSpPr>
          <p:cNvPr id="12" name="AGIR"/>
          <p:cNvSpPr/>
          <p:nvPr/>
        </p:nvSpPr>
        <p:spPr>
          <a:xfrm>
            <a:off x="8700000" y="1650000"/>
            <a:ext cx="3500000" cy="12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3  AGIR</a:t>
            </a:r>
            <a:endParaRPr lang="pt-BR"/>
          </a:p>
        </p:txBody>
      </p:sp>
      <p:sp>
        <p:nvSpPr>
          <p:cNvPr id="13" name="OBSERVAR"/>
          <p:cNvSpPr/>
          <p:nvPr/>
        </p:nvSpPr>
        <p:spPr>
          <a:xfrm>
            <a:off x="500000" y="3550000"/>
            <a:ext cx="3500000" cy="12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4  OBSERVAR</a:t>
            </a:r>
            <a:endParaRPr lang="pt-BR"/>
          </a:p>
        </p:txBody>
      </p:sp>
      <p:sp>
        <p:nvSpPr>
          <p:cNvPr id="14" name="CRITICAR"/>
          <p:cNvSpPr/>
          <p:nvPr/>
        </p:nvSpPr>
        <p:spPr>
          <a:xfrm>
            <a:off x="4600000" y="3550000"/>
            <a:ext cx="3500000" cy="12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5  CRITICAR</a:t>
            </a:r>
            <a:endParaRPr lang="pt-BR"/>
          </a:p>
        </p:txBody>
      </p:sp>
      <p:sp>
        <p:nvSpPr>
          <p:cNvPr id="15" name="RECOMENDAR"/>
          <p:cNvSpPr/>
          <p:nvPr/>
        </p:nvSpPr>
        <p:spPr>
          <a:xfrm>
            <a:off x="8700000" y="3550000"/>
            <a:ext cx="3500000" cy="125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6  RECOMENDAR</a:t>
            </a:r>
            <a:endParaRPr lang="pt-BR"/>
          </a:p>
        </p:txBody>
      </p:sp>
      <p:sp>
        <p:nvSpPr>
          <p:cNvPr id="30" name="Loop"/>
          <p:cNvSpPr/>
          <p:nvPr/>
        </p:nvSpPr>
        <p:spPr>
          <a:xfrm>
            <a:off x="2600000" y="5550000"/>
            <a:ext cx="8100000" cy="600000"/>
          </a:xfrm>
          <a:prstGeom prst="roundRect">
            <a:avLst/>
          </a:prstGeom>
          <a:solidFill>
            <a:srgbClr val="102B45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Se faltam dados: replanejar  •  Se há conflito: escalar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05</a:t>
            </a:r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SEGURANÇA E GOVERNANÇA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Guardrails por design</a:t>
            </a:r>
            <a:endParaRPr lang="pt-BR"/>
          </a:p>
        </p:txBody>
      </p:sp>
      <p:sp>
        <p:nvSpPr>
          <p:cNvPr id="10" name="Agente"/>
          <p:cNvSpPr/>
          <p:nvPr/>
        </p:nvSpPr>
        <p:spPr>
          <a:xfrm>
            <a:off x="650000" y="1650000"/>
            <a:ext cx="5750000" cy="35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GUARDRAILS DO AGENTE</a:t>
            </a:r>
            <a:endParaRPr lang="pt-BR"/>
          </a:p>
          <a:p>
            <a:pPr marL="320000" indent="-180000">
              <a:buChar char="•"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Não aprova, nega ou paga</a:t>
            </a:r>
            <a:endParaRPr lang="pt-BR"/>
          </a:p>
          <a:p>
            <a:pPr marL="320000" indent="-180000">
              <a:buChar char="•"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Usa somente ferramentas autorizadas</a:t>
            </a:r>
            <a:endParaRPr lang="pt-BR"/>
          </a:p>
          <a:p>
            <a:pPr marL="320000" indent="-180000">
              <a:buChar char="•"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Separa fatos de hipóteses</a:t>
            </a:r>
            <a:endParaRPr lang="pt-BR"/>
          </a:p>
          <a:p>
            <a:pPr marL="320000" indent="-180000">
              <a:buChar char="•"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Expõe fontes, lacunas e confiança</a:t>
            </a:r>
            <a:endParaRPr lang="pt-BR"/>
          </a:p>
        </p:txBody>
      </p:sp>
      <p:sp>
        <p:nvSpPr>
          <p:cNvPr id="11" name="Processo"/>
          <p:cNvSpPr/>
          <p:nvPr/>
        </p:nvSpPr>
        <p:spPr>
          <a:xfrm>
            <a:off x="7100000" y="1650000"/>
            <a:ext cx="5750000" cy="35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2C55E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GUARDRAILS DO PROCESSO</a:t>
            </a:r>
            <a:endParaRPr lang="pt-BR"/>
          </a:p>
          <a:p>
            <a:pPr marL="320000" indent="-180000">
              <a:buChar char="•"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Revisão humana obrigatória</a:t>
            </a:r>
            <a:endParaRPr lang="pt-BR"/>
          </a:p>
          <a:p>
            <a:pPr marL="320000" indent="-180000">
              <a:buChar char="•"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Gateway lê status estruturado</a:t>
            </a:r>
            <a:endParaRPr lang="pt-BR"/>
          </a:p>
          <a:p>
            <a:pPr marL="320000" indent="-180000">
              <a:buChar char="•"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Texto livre nunca decide o fluxo</a:t>
            </a:r>
            <a:endParaRPr lang="pt-BR"/>
          </a:p>
          <a:p>
            <a:pPr marL="320000" indent="-180000">
              <a:buChar char="•"/>
            </a:pPr>
            <a:r>
              <a:rPr lang="pt-BR" sz="1700" b="0">
                <a:solidFill>
                  <a:srgbClr val="FFFFFF"/>
                </a:solidFill>
                <a:latin typeface="Aptos"/>
              </a:rPr>
              <a:t>Decision trace preservado</a:t>
            </a:r>
            <a:endParaRPr lang="pt-BR"/>
          </a:p>
        </p:txBody>
      </p:sp>
      <p:sp>
        <p:nvSpPr>
          <p:cNvPr id="12" name="Regra"/>
          <p:cNvSpPr/>
          <p:nvPr/>
        </p:nvSpPr>
        <p:spPr>
          <a:xfrm>
            <a:off x="1500000" y="5500000"/>
            <a:ext cx="10300000" cy="65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900" b="1">
                <a:solidFill>
                  <a:srgbClr val="FFFFFF"/>
                </a:solidFill>
                <a:latin typeface="Aptos"/>
              </a:rPr>
              <a:t>AUTONOMIA LIMITADA  +  AUTORIDADE HUMANA  =  OPERAÇÃO SEGURA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06</a:t>
            </a:r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INTEGRAÇÃO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Contrato entre BPM e Agent Process</a:t>
            </a:r>
            <a:endParaRPr lang="pt-BR"/>
          </a:p>
        </p:txBody>
      </p:sp>
      <p:sp>
        <p:nvSpPr>
          <p:cNvPr id="10" name="ENTRADAS"/>
          <p:cNvSpPr/>
          <p:nvPr/>
        </p:nvSpPr>
        <p:spPr>
          <a:xfrm>
            <a:off x="500000" y="1650000"/>
            <a:ext cx="3850000" cy="38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ENTRADAS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claimId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policyId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incidentDescription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estimatedAmount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documentReferences</a:t>
            </a:r>
            <a:endParaRPr lang="pt-BR"/>
          </a:p>
        </p:txBody>
      </p:sp>
      <p:sp>
        <p:nvSpPr>
          <p:cNvPr id="11" name="SAÍDAS DO AGENTE"/>
          <p:cNvSpPr/>
          <p:nvPr/>
        </p:nvSpPr>
        <p:spPr>
          <a:xfrm>
            <a:off x="4750000" y="1650000"/>
            <a:ext cx="3850000" cy="38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SAÍDAS DO AGENTE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agentDecision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agentRecommendation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agentReason</a:t>
            </a:r>
            <a:endParaRPr lang="pt-BR"/>
          </a:p>
        </p:txBody>
      </p:sp>
      <p:sp>
        <p:nvSpPr>
          <p:cNvPr id="12" name="DECISÃO HUMANA"/>
          <p:cNvSpPr/>
          <p:nvPr/>
        </p:nvSpPr>
        <p:spPr>
          <a:xfrm>
            <a:off x="9000000" y="1650000"/>
            <a:ext cx="3850000" cy="38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2C55E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DECISÃO HUMANA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APPROVED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NEEDS_INFO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INVESTIGATE</a:t>
            </a:r>
            <a:endParaRPr lang="pt-BR"/>
          </a:p>
          <a:p>
            <a:pPr marL="320000" indent="-180000">
              <a:buChar char="•"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REJECTED</a:t>
            </a:r>
            <a:endParaRPr lang="pt-BR"/>
          </a:p>
        </p:txBody>
      </p:sp>
      <p:sp>
        <p:nvSpPr>
          <p:cNvPr id="20" name="Contrato"/>
          <p:cNvSpPr/>
          <p:nvPr/>
        </p:nvSpPr>
        <p:spPr>
          <a:xfrm>
            <a:off x="1300000" y="5700000"/>
            <a:ext cx="10700000" cy="550000"/>
          </a:xfrm>
          <a:prstGeom prst="round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1">
                <a:solidFill>
                  <a:srgbClr val="DCE7F7"/>
                </a:solidFill>
                <a:latin typeface="Aptos"/>
              </a:rPr>
              <a:t>Um contrato claro desacopla IA probabilística de BPM determinístico.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07</a:t>
            </a:r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DEMO AO VIVO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Roteiro da demonstração</a:t>
            </a:r>
            <a:endParaRPr lang="pt-BR"/>
          </a:p>
        </p:txBody>
      </p:sp>
      <p:sp>
        <p:nvSpPr>
          <p:cNvPr id="10" name="Passo 1"/>
          <p:cNvSpPr/>
          <p:nvPr/>
        </p:nvSpPr>
        <p:spPr>
          <a:xfrm>
            <a:off x="700000" y="1450000"/>
            <a:ext cx="11800000" cy="57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01     Importar e publicar o Agent Process</a:t>
            </a:r>
            <a:endParaRPr lang="pt-BR"/>
          </a:p>
        </p:txBody>
      </p:sp>
      <p:sp>
        <p:nvSpPr>
          <p:cNvPr id="11" name="Passo 2"/>
          <p:cNvSpPr/>
          <p:nvPr/>
        </p:nvSpPr>
        <p:spPr>
          <a:xfrm>
            <a:off x="700000" y="2200000"/>
            <a:ext cx="11800000" cy="57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02     Importar e publicar o processo BPM</a:t>
            </a:r>
            <a:endParaRPr lang="pt-BR"/>
          </a:p>
        </p:txBody>
      </p:sp>
      <p:sp>
        <p:nvSpPr>
          <p:cNvPr id="12" name="Passo 3"/>
          <p:cNvSpPr/>
          <p:nvPr/>
        </p:nvSpPr>
        <p:spPr>
          <a:xfrm>
            <a:off x="700000" y="2950000"/>
            <a:ext cx="11800000" cy="57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03     Iniciar o caso SIN-2026-0042</a:t>
            </a:r>
            <a:endParaRPr lang="pt-BR"/>
          </a:p>
        </p:txBody>
      </p:sp>
      <p:sp>
        <p:nvSpPr>
          <p:cNvPr id="13" name="Passo 4"/>
          <p:cNvSpPr/>
          <p:nvPr/>
        </p:nvSpPr>
        <p:spPr>
          <a:xfrm>
            <a:off x="700000" y="3700000"/>
            <a:ext cx="11800000" cy="570000"/>
          </a:xfrm>
          <a:prstGeom prst="roundRect">
            <a:avLst/>
          </a:prstGeom>
          <a:solidFill>
            <a:srgbClr val="102B45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04     Inspecionar recomendação e trace</a:t>
            </a:r>
            <a:endParaRPr lang="pt-BR"/>
          </a:p>
        </p:txBody>
      </p:sp>
      <p:sp>
        <p:nvSpPr>
          <p:cNvPr id="14" name="Passo 5"/>
          <p:cNvSpPr/>
          <p:nvPr/>
        </p:nvSpPr>
        <p:spPr>
          <a:xfrm>
            <a:off x="700000" y="4450000"/>
            <a:ext cx="11800000" cy="57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05     Registrar a decisão do analista</a:t>
            </a:r>
            <a:endParaRPr lang="pt-BR"/>
          </a:p>
        </p:txBody>
      </p:sp>
      <p:sp>
        <p:nvSpPr>
          <p:cNvPr id="15" name="Passo 6"/>
          <p:cNvSpPr/>
          <p:nvPr/>
        </p:nvSpPr>
        <p:spPr>
          <a:xfrm>
            <a:off x="700000" y="5200000"/>
            <a:ext cx="11800000" cy="57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600" b="0">
                <a:solidFill>
                  <a:srgbClr val="FFFFFF"/>
                </a:solidFill>
                <a:latin typeface="Aptos"/>
              </a:rPr>
              <a:t>06     Observar o caminho do gateway</a:t>
            </a:r>
            <a:endParaRPr lang="pt-BR"/>
          </a:p>
        </p:txBody>
      </p:sp>
      <p:sp>
        <p:nvSpPr>
          <p:cNvPr id="30" name="Resposta"/>
          <p:cNvSpPr/>
          <p:nvPr/>
        </p:nvSpPr>
        <p:spPr>
          <a:xfrm>
            <a:off x="1700000" y="6100000"/>
            <a:ext cx="9900000" cy="50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700" b="1">
                <a:solidFill>
                  <a:srgbClr val="FFFFFF"/>
                </a:solidFill>
                <a:latin typeface="Aptos"/>
              </a:rPr>
              <a:t>“Se a IA errar?”  →  A pessoa revisa antes de o fluxo decidir.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08</a:t>
            </a:r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INDICADORES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Como medir sucesso</a:t>
            </a:r>
            <a:endParaRPr lang="pt-BR"/>
          </a:p>
        </p:txBody>
      </p:sp>
      <p:sp>
        <p:nvSpPr>
          <p:cNvPr id="10" name="TEMPO"/>
          <p:cNvSpPr/>
          <p:nvPr/>
        </p:nvSpPr>
        <p:spPr>
          <a:xfrm>
            <a:off x="550000" y="150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TEMPO</a:t>
            </a:r>
            <a:endParaRPr lang="pt-BR"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Entrada → recomendação</a:t>
            </a:r>
            <a:endParaRPr lang="pt-BR"/>
          </a:p>
        </p:txBody>
      </p:sp>
      <p:sp>
        <p:nvSpPr>
          <p:cNvPr id="11" name="QUALIDADE"/>
          <p:cNvSpPr/>
          <p:nvPr/>
        </p:nvSpPr>
        <p:spPr>
          <a:xfrm>
            <a:off x="4700000" y="150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QUALIDADE</a:t>
            </a:r>
            <a:endParaRPr lang="pt-BR"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% aceito sem correção</a:t>
            </a:r>
            <a:endParaRPr lang="pt-BR"/>
          </a:p>
        </p:txBody>
      </p:sp>
      <p:sp>
        <p:nvSpPr>
          <p:cNvPr id="12" name="SEGURANÇA"/>
          <p:cNvSpPr/>
          <p:nvPr/>
        </p:nvSpPr>
        <p:spPr>
          <a:xfrm>
            <a:off x="8850000" y="150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SEGURANÇA</a:t>
            </a:r>
            <a:endParaRPr lang="pt-BR"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% escalado corretamente</a:t>
            </a:r>
            <a:endParaRPr lang="pt-BR"/>
          </a:p>
        </p:txBody>
      </p:sp>
      <p:sp>
        <p:nvSpPr>
          <p:cNvPr id="13" name="GOVERNANÇA"/>
          <p:cNvSpPr/>
          <p:nvPr/>
        </p:nvSpPr>
        <p:spPr>
          <a:xfrm>
            <a:off x="550000" y="335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GOVERNANÇA</a:t>
            </a:r>
            <a:endParaRPr lang="pt-BR"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% traces completos</a:t>
            </a:r>
            <a:endParaRPr lang="pt-BR"/>
          </a:p>
        </p:txBody>
      </p:sp>
      <p:sp>
        <p:nvSpPr>
          <p:cNvPr id="14" name="EXPERIÊNCIA"/>
          <p:cNvSpPr/>
          <p:nvPr/>
        </p:nvSpPr>
        <p:spPr>
          <a:xfrm>
            <a:off x="4700000" y="335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EXPERIÊNCIA</a:t>
            </a:r>
            <a:endParaRPr lang="pt-BR"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Tempo do analista</a:t>
            </a:r>
            <a:endParaRPr lang="pt-BR"/>
          </a:p>
        </p:txBody>
      </p:sp>
      <p:sp>
        <p:nvSpPr>
          <p:cNvPr id="15" name="OPERAÇÃO"/>
          <p:cNvSpPr/>
          <p:nvPr/>
        </p:nvSpPr>
        <p:spPr>
          <a:xfrm>
            <a:off x="8850000" y="3350000"/>
            <a:ext cx="3700000" cy="14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6344D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OPERAÇÃO</a:t>
            </a:r>
            <a:endParaRPr lang="pt-BR"/>
          </a:p>
          <a:p>
            <a:pPr marL="0" indent="0">
              <a:buNone/>
            </a:pPr>
            <a:r>
              <a:rPr lang="pt-BR" sz="1500" b="1">
                <a:solidFill>
                  <a:srgbClr val="FFFFFF"/>
                </a:solidFill>
                <a:latin typeface="Aptos"/>
              </a:rPr>
              <a:t>Timeouts e falhas</a:t>
            </a:r>
            <a:endParaRPr lang="pt-BR"/>
          </a:p>
        </p:txBody>
      </p:sp>
      <p:sp>
        <p:nvSpPr>
          <p:cNvPr id="30" name="Shadow"/>
          <p:cNvSpPr/>
          <p:nvPr/>
        </p:nvSpPr>
        <p:spPr>
          <a:xfrm>
            <a:off x="1300000" y="5400000"/>
            <a:ext cx="10700000" cy="700000"/>
          </a:xfrm>
          <a:prstGeom prst="roundRect">
            <a:avLst/>
          </a:prstGeom>
          <a:solidFill>
            <a:srgbClr val="102B45"/>
          </a:solidFill>
          <a:ln w="14000">
            <a:solidFill>
              <a:srgbClr val="22C55E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COMEÇAR EM SHADOW MODE</a:t>
            </a:r>
            <a:endParaRPr lang="pt-BR"/>
          </a:p>
          <a:p>
            <a:pPr marL="0" indent="0">
              <a:buNone/>
            </a:pPr>
            <a:r>
              <a:rPr lang="pt-BR" sz="1600" b="1">
                <a:solidFill>
                  <a:srgbClr val="FFFFFF"/>
                </a:solidFill>
                <a:latin typeface="Aptos"/>
              </a:rPr>
              <a:t>Medir qualidade e risco antes de influenciar o fluxo produtivo.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09</a:t>
            </a:r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600000" y="220000"/>
            <a:ext cx="3500000" cy="30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1100" b="1">
                <a:solidFill>
                  <a:srgbClr val="06B6D4"/>
                </a:solidFill>
                <a:latin typeface="Aptos"/>
              </a:rPr>
              <a:t>ENCERRAMENTO</a:t>
            </a:r>
            <a:endParaRPr lang="pt-BR"/>
          </a:p>
        </p:txBody>
      </p:sp>
      <p:sp>
        <p:nvSpPr>
          <p:cNvPr id="3" name="Título"/>
          <p:cNvSpPr/>
          <p:nvPr/>
        </p:nvSpPr>
        <p:spPr>
          <a:xfrm>
            <a:off x="600000" y="540000"/>
            <a:ext cx="12100000" cy="65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2800" b="1">
                <a:solidFill>
                  <a:srgbClr val="FFFFFF"/>
                </a:solidFill>
                <a:latin typeface="Aptos"/>
              </a:rPr>
              <a:t>O melhor dos dois modelos</a:t>
            </a:r>
            <a:endParaRPr lang="pt-BR"/>
          </a:p>
        </p:txBody>
      </p:sp>
      <p:sp>
        <p:nvSpPr>
          <p:cNvPr id="10" name="BPM"/>
          <p:cNvSpPr/>
          <p:nvPr/>
        </p:nvSpPr>
        <p:spPr>
          <a:xfrm>
            <a:off x="650000" y="1700000"/>
            <a:ext cx="3700000" cy="19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EASY BPM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Controle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Estado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Accountability</a:t>
            </a:r>
            <a:endParaRPr lang="pt-BR"/>
          </a:p>
        </p:txBody>
      </p:sp>
      <p:sp>
        <p:nvSpPr>
          <p:cNvPr id="11" name="Agentic"/>
          <p:cNvSpPr/>
          <p:nvPr/>
        </p:nvSpPr>
        <p:spPr>
          <a:xfrm>
            <a:off x="4800000" y="1700000"/>
            <a:ext cx="3700000" cy="19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06B6D4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AGENTIC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Adaptação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Colaboração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Investigação</a:t>
            </a:r>
            <a:endParaRPr lang="pt-BR"/>
          </a:p>
        </p:txBody>
      </p:sp>
      <p:sp>
        <p:nvSpPr>
          <p:cNvPr id="12" name="Humano"/>
          <p:cNvSpPr/>
          <p:nvPr/>
        </p:nvSpPr>
        <p:spPr>
          <a:xfrm>
            <a:off x="8950000" y="1700000"/>
            <a:ext cx="3700000" cy="1900000"/>
          </a:xfrm>
          <a:prstGeom prst="roundRect">
            <a:avLst/>
          </a:prstGeom>
          <a:solidFill>
            <a:srgbClr val="172033"/>
          </a:solidFill>
          <a:ln w="14000">
            <a:solidFill>
              <a:srgbClr val="22C55E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HUMANO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Julgamento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Autoridade</a:t>
            </a:r>
            <a:endParaRPr lang="pt-BR"/>
          </a:p>
          <a:p>
            <a:pPr marL="0" indent="0">
              <a:buNone/>
            </a:pPr>
            <a:r>
              <a:rPr lang="pt-BR" sz="1800" b="1">
                <a:solidFill>
                  <a:srgbClr val="FFFFFF"/>
                </a:solidFill>
                <a:latin typeface="Aptos"/>
              </a:rPr>
              <a:t>Responsabilidade</a:t>
            </a:r>
            <a:endParaRPr lang="pt-BR"/>
          </a:p>
        </p:txBody>
      </p:sp>
      <p:sp>
        <p:nvSpPr>
          <p:cNvPr id="13" name="Resultado"/>
          <p:cNvSpPr/>
          <p:nvPr/>
        </p:nvSpPr>
        <p:spPr>
          <a:xfrm>
            <a:off x="1350000" y="4550000"/>
            <a:ext cx="10600000" cy="110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wrap="square" anchor="ctr" lIns="180000" rIns="180000" tIns="90000" bIns="90000"/>
          <a:lstStyle/>
          <a:p>
            <a:pPr algn="ctr"/>
            <a:endParaRPr/>
          </a:p>
          <a:p>
            <a:pPr marL="0" indent="0">
              <a:buNone/>
            </a:pPr>
            <a:r>
              <a:rPr lang="pt-BR" sz="2400" b="1">
                <a:solidFill>
                  <a:srgbClr val="FFFFFF"/>
                </a:solidFill>
                <a:latin typeface="Aptos"/>
              </a:rPr>
              <a:t>TRIAGEM MAIS RÁPIDA</a:t>
            </a:r>
            <a:endParaRPr lang="pt-BR"/>
          </a:p>
          <a:p>
            <a:pPr marL="0" indent="0">
              <a:buNone/>
            </a:pPr>
            <a:r>
              <a:rPr lang="pt-BR" sz="2400" b="1">
                <a:solidFill>
                  <a:srgbClr val="FFFFFF"/>
                </a:solidFill>
                <a:latin typeface="Aptos"/>
              </a:rPr>
              <a:t>sem abrir mão da governança</a:t>
            </a:r>
            <a:endParaRPr lang="pt-BR"/>
          </a:p>
        </p:txBody>
      </p:sp>
      <p:sp>
        <p:nvSpPr>
          <p:cNvPr id="900" name="Rodapé"/>
          <p:cNvSpPr/>
          <p:nvPr/>
        </p:nvSpPr>
        <p:spPr>
          <a:xfrm>
            <a:off x="600000" y="7140000"/>
            <a:ext cx="12100000" cy="180000"/>
          </a:xfrm>
          <a:prstGeom prst="rect">
            <a:avLst/>
          </a:prstGeom>
          <a:solidFill>
            <a:srgbClr val="0B1220"/>
          </a:solidFill>
          <a:ln w="14000">
            <a:solidFill>
              <a:srgbClr val="0B1220"/>
            </a:solidFill>
          </a:ln>
        </p:spPr>
        <p:txBody>
          <a:bodyPr wrap="square" anchor="ctr" lIns="180000" rIns="180000" tIns="90000" bIns="90000"/>
          <a:lstStyle/>
          <a:p>
            <a:pPr algn="l"/>
            <a:endParaRPr/>
          </a:p>
          <a:p>
            <a:pPr marL="0" indent="0">
              <a:buNone/>
            </a:pPr>
            <a:r>
              <a:rPr lang="pt-BR" sz="800" b="0">
                <a:solidFill>
                  <a:srgbClr val="94A3B8"/>
                </a:solidFill>
                <a:latin typeface="Aptos"/>
              </a:rPr>
              <a:t>EASY BPM  •  AGENTIC ORCHESTRATION                                                        10</a:t>
            </a:r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sy BPM">
  <a:themeElements>
    <a:clrScheme name="Easy BPM">
      <a:dk1>
        <a:srgbClr val="0B1220"/>
      </a:dk1>
      <a:lt1>
        <a:srgbClr val="FFFFFF"/>
      </a:lt1>
      <a:dk2>
        <a:srgbClr val="172033"/>
      </a:dk2>
      <a:lt2>
        <a:srgbClr val="DCE7F7"/>
      </a:lt2>
      <a:accent1>
        <a:srgbClr val="2563EB"/>
      </a:accent1>
      <a:accent2>
        <a:srgbClr val="06B6D4"/>
      </a:accent2>
      <a:accent3>
        <a:srgbClr val="22C55E"/>
      </a:accent3>
      <a:accent4>
        <a:srgbClr val="F59E0B"/>
      </a:accent4>
      <a:accent5>
        <a:srgbClr val="6D28D9"/>
      </a:accent5>
      <a:accent6>
        <a:srgbClr val="EF4444"/>
      </a:accent6>
      <a:hlink>
        <a:srgbClr val="06B6D4"/>
      </a:hlink>
      <a:folHlink>
        <a:srgbClr val="6D28D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Easy BPM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Company>Easy BPM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Easy BPM + Agentic Orchestration</dc:title>
  <dc:subject>Triagem inteligente de sinistros</dc:subject>
  <dc:creator>Easy BPM</dc:creator>
  <cp:keywords>Easy BPM, agentic orchestration, sinistros</cp:keywords>
  <dcterms:created xsi:type="dcterms:W3CDTF">2026-08-10T00:00:00Z</dcterms:created>
</cp:coreProperties>
</file>